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962ef5bac044d8" /><Relationship Type="http://schemas.openxmlformats.org/officeDocument/2006/relationships/extended-properties" Target="/docProps/app.xml" Id="R66cfefc7ff464e43" /><Relationship Type="http://schemas.openxmlformats.org/officeDocument/2006/relationships/officeDocument" Target="/ppt/presentation.xml" Id="Rcb18b4fc648744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1ad3f24d7341e9"/>
  </p:sldMasterIdLst>
  <p:notesMasterIdLst>
    <p:notesMasterId xmlns:r="http://schemas.openxmlformats.org/officeDocument/2006/relationships" r:id="R8747ccebb1574203"/>
  </p:notesMasterIdLst>
  <p:sldIdLst>
    <p:sldId xmlns:r="http://schemas.openxmlformats.org/officeDocument/2006/relationships" id="256" r:id="Rd8451379af464262"/>
    <p:sldId xmlns:r="http://schemas.openxmlformats.org/officeDocument/2006/relationships" id="257" r:id="R800bcc28a0e347a8"/>
    <p:sldId xmlns:r="http://schemas.openxmlformats.org/officeDocument/2006/relationships" id="258" r:id="R0bbd862f59fa4616"/>
    <p:sldId xmlns:r="http://schemas.openxmlformats.org/officeDocument/2006/relationships" id="259" r:id="R47f652cbbc4a4c97"/>
    <p:sldId xmlns:r="http://schemas.openxmlformats.org/officeDocument/2006/relationships" id="260" r:id="R704bf514ac394284"/>
    <p:sldId xmlns:r="http://schemas.openxmlformats.org/officeDocument/2006/relationships" id="261" r:id="R125437c7b2cd43d8"/>
    <p:sldId xmlns:r="http://schemas.openxmlformats.org/officeDocument/2006/relationships" id="262" r:id="Refe79c83c63f4e6e"/>
    <p:sldId xmlns:r="http://schemas.openxmlformats.org/officeDocument/2006/relationships" id="263" r:id="R41460429aec54ee2"/>
    <p:sldId xmlns:r="http://schemas.openxmlformats.org/officeDocument/2006/relationships" id="264" r:id="R36d7bec9e93749c2"/>
    <p:sldId xmlns:r="http://schemas.openxmlformats.org/officeDocument/2006/relationships" id="265" r:id="R70ae3c6c762e40b4"/>
    <p:sldId xmlns:r="http://schemas.openxmlformats.org/officeDocument/2006/relationships" id="266" r:id="Rc65c01af4aee44a8"/>
    <p:sldId xmlns:r="http://schemas.openxmlformats.org/officeDocument/2006/relationships" id="267" r:id="R9f24c4ca693940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d73272215e45ae" /><Relationship Type="http://schemas.openxmlformats.org/officeDocument/2006/relationships/slideMaster" Target="/ppt/slideMasters/slideMaster1.xml" Id="Rc61ad3f24d7341e9" /><Relationship Type="http://schemas.openxmlformats.org/officeDocument/2006/relationships/notesMaster" Target="/ppt/notesMasters/notesMaster1.xml" Id="R8747ccebb1574203" /><Relationship Type="http://schemas.openxmlformats.org/officeDocument/2006/relationships/presProps" Target="/ppt/presProps.xml" Id="Raa0dafd1ae2047e1" /><Relationship Type="http://schemas.openxmlformats.org/officeDocument/2006/relationships/tableStyles" Target="/ppt/tableStyles.xml" Id="Rc3d10ce0b5aa4868" /><Relationship Type="http://schemas.openxmlformats.org/officeDocument/2006/relationships/slide" Target="/ppt/slides/slide1.xml" Id="Rd8451379af464262" /><Relationship Type="http://schemas.openxmlformats.org/officeDocument/2006/relationships/slide" Target="/ppt/slides/slide2.xml" Id="R800bcc28a0e347a8" /><Relationship Type="http://schemas.openxmlformats.org/officeDocument/2006/relationships/slide" Target="/ppt/slides/slide3.xml" Id="R0bbd862f59fa4616" /><Relationship Type="http://schemas.openxmlformats.org/officeDocument/2006/relationships/slide" Target="/ppt/slides/slide4.xml" Id="R47f652cbbc4a4c97" /><Relationship Type="http://schemas.openxmlformats.org/officeDocument/2006/relationships/slide" Target="/ppt/slides/slide5.xml" Id="R704bf514ac394284" /><Relationship Type="http://schemas.openxmlformats.org/officeDocument/2006/relationships/slide" Target="/ppt/slides/slide6.xml" Id="R125437c7b2cd43d8" /><Relationship Type="http://schemas.openxmlformats.org/officeDocument/2006/relationships/slide" Target="/ppt/slides/slide7.xml" Id="Refe79c83c63f4e6e" /><Relationship Type="http://schemas.openxmlformats.org/officeDocument/2006/relationships/slide" Target="/ppt/slides/slide8.xml" Id="R41460429aec54ee2" /><Relationship Type="http://schemas.openxmlformats.org/officeDocument/2006/relationships/slide" Target="/ppt/slides/slide9.xml" Id="R36d7bec9e93749c2" /><Relationship Type="http://schemas.openxmlformats.org/officeDocument/2006/relationships/slide" Target="/ppt/slides/slide10.xml" Id="R70ae3c6c762e40b4" /><Relationship Type="http://schemas.openxmlformats.org/officeDocument/2006/relationships/slide" Target="/ppt/slides/slide11.xml" Id="Rc65c01af4aee44a8" /><Relationship Type="http://schemas.openxmlformats.org/officeDocument/2006/relationships/slide" Target="/ppt/slides/slide12.xml" Id="R9f24c4ca693940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3c6350220a48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Warm Green">
      <a:dk1>
        <a:srgbClr val="000000"/>
      </a:dk1>
      <a:lt1>
        <a:srgbClr val="FFFFFF"/>
      </a:lt1>
      <a:dk2>
        <a:srgbClr val="1E3932"/>
      </a:dk2>
      <a:lt2>
        <a:srgbClr val="EDEBE9"/>
      </a:lt2>
      <a:accent1>
        <a:srgbClr val="00754A"/>
      </a:accent1>
      <a:accent2>
        <a:srgbClr val="006241"/>
      </a:accent2>
      <a:accent3>
        <a:srgbClr val="CBA258"/>
      </a:accent3>
      <a:accent4>
        <a:srgbClr val="1E3932"/>
      </a:accent4>
      <a:accent5>
        <a:srgbClr val="D4E9E2"/>
      </a:accent5>
      <a:accent6>
        <a:srgbClr val="EDEBE9"/>
      </a:accent6>
      <a:hlink>
        <a:srgbClr val="00754A"/>
      </a:hlink>
      <a:folHlink>
        <a:srgbClr val="00624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arm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daaeaea5a34474" /><Relationship Type="http://schemas.openxmlformats.org/officeDocument/2006/relationships/notesMaster" Target="/ppt/notesMasters/notesMaster1.xml" Id="R358f9d58ed234f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32c8aea7af4aa2" /><Relationship Type="http://schemas.openxmlformats.org/officeDocument/2006/relationships/notesMaster" Target="/ppt/notesMasters/notesMaster1.xml" Id="R0fcc137dc3a749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cfa07fd5be46d8" /><Relationship Type="http://schemas.openxmlformats.org/officeDocument/2006/relationships/notesMaster" Target="/ppt/notesMasters/notesMaster1.xml" Id="R2ac8df8c894941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f5fc2717f2423e" /><Relationship Type="http://schemas.openxmlformats.org/officeDocument/2006/relationships/notesMaster" Target="/ppt/notesMasters/notesMaster1.xml" Id="R5d15a02bd85c49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88e215d6154626" /><Relationship Type="http://schemas.openxmlformats.org/officeDocument/2006/relationships/notesMaster" Target="/ppt/notesMasters/notesMaster1.xml" Id="R9e0c34e7d9b246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41bb51b6b843ff" /><Relationship Type="http://schemas.openxmlformats.org/officeDocument/2006/relationships/notesMaster" Target="/ppt/notesMasters/notesMaster1.xml" Id="Rc33d1cc78bfd44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d4c5fac19842ab" /><Relationship Type="http://schemas.openxmlformats.org/officeDocument/2006/relationships/notesMaster" Target="/ppt/notesMasters/notesMaster1.xml" Id="R56942c0623d04e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bda4b2cffb402e" /><Relationship Type="http://schemas.openxmlformats.org/officeDocument/2006/relationships/notesMaster" Target="/ppt/notesMasters/notesMaster1.xml" Id="R9359a3b7caf041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7707bf39a34761" /><Relationship Type="http://schemas.openxmlformats.org/officeDocument/2006/relationships/notesMaster" Target="/ppt/notesMasters/notesMaster1.xml" Id="R5bc589941cba45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cedf0895ee495c" /><Relationship Type="http://schemas.openxmlformats.org/officeDocument/2006/relationships/notesMaster" Target="/ppt/notesMasters/notesMaster1.xml" Id="R0876b948ee134c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c821c72f4944f0" /><Relationship Type="http://schemas.openxmlformats.org/officeDocument/2006/relationships/notesMaster" Target="/ppt/notesMasters/notesMaster1.xml" Id="R4f571df163af46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215ad0c97b43ce" /><Relationship Type="http://schemas.openxmlformats.org/officeDocument/2006/relationships/notesMaster" Target="/ppt/notesMasters/notesMaster1.xml" Id="R5f3fcc61f87e4c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한 줄 소개부터 시작합니다.</a:t>
            </a:r>
          </a:p>
          <a:p xmlns:a="http://schemas.openxmlformats.org/drawingml/2006/main">
            <a:r>
              <a:t>완전 자동 판정기보다는 본사 점검 부담을 줄이는 1차 자동 평가 프레임워크라는 점을 먼저 강조합니다.</a:t>
            </a:r>
          </a:p>
          <a:p xmlns:a="http://schemas.openxmlformats.org/drawingml/2006/main">
            <a:r>
              <a:t>이후 슬라이드에서는 문제 정의, 구조, 구현, 결과, 한계 순으로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왜 이 문제가 중요한가를 설명하는 장표입니다.</a:t>
            </a:r>
          </a:p>
          <a:p xmlns:a="http://schemas.openxmlformats.org/drawingml/2006/main">
            <a:r>
              <a:t>위생 문제는 단순 청소 이슈가 아니라 브랜드 경험 문제라는 점을 연결해서 말합니다.</a:t>
            </a:r>
          </a:p>
          <a:p xmlns:a="http://schemas.openxmlformats.org/drawingml/2006/main">
            <a:r>
              <a:t>지점 수가 많을수록 사람 중심 점검만으로는 지속 관리가 어렵다는 흐름으로 이어갑니다.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핵심은 기존 방식이 틀렸다는 것이 아니라, 자주 반복하기 어렵다는 점입니다.</a:t>
            </a:r>
          </a:p>
          <a:p xmlns:a="http://schemas.openxmlformats.org/drawingml/2006/main">
            <a:r>
              <a:t>방문 간격 사이에 매장 상태가 어떻게 바뀌는지는 알기 어렵다는 운영 공백을 짚습니다.</a:t>
            </a:r>
          </a:p>
          <a:p xmlns:a="http://schemas.openxmlformats.org/drawingml/2006/main">
            <a:r>
              <a:t>다음 슬라이드에서 그래서 CCTV와 메타데이터를 활용하자는 아이디어로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프로젝트를 단일 이미지 분류가 아니라 근거 결합형 파이프라인으로 설명합니다.</a:t>
            </a:r>
          </a:p>
          <a:p xmlns:a="http://schemas.openxmlformats.org/drawingml/2006/main">
            <a:r>
              <a:t>테이블 단위로 본다는 점이 중요한데, 실제 관리 단위를 자연스럽게 반영하기 때문입니다.</a:t>
            </a:r>
          </a:p>
          <a:p xmlns:a="http://schemas.openxmlformats.org/drawingml/2006/main">
            <a:r>
              <a:t>visual과 action을 분리한 이유도 여기서 함께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발표 전체의 기준 구조입니다.</a:t>
            </a:r>
          </a:p>
          <a:p xmlns:a="http://schemas.openxmlformats.org/drawingml/2006/main">
            <a:r>
              <a:t>뒤 슬라이드에서 설명하는 비전 평가, 액션 평가, 샘플링, 리포트가 이 구조의 어느 부분인지 계속 연결해 줍니다.</a:t>
            </a:r>
          </a:p>
          <a:p xmlns:a="http://schemas.openxmlformats.org/drawingml/2006/main">
            <a:r>
              <a:t>코드 기준으로도 ROI 설정, workflow, hybrid scoring, reports가 모두 실제 연결되어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비전 평가는 OpenCV로 ROI를 자른 뒤 OpenAI 모델에 구조화 JSON 응답을 요청하는 방식입니다.</a:t>
            </a:r>
          </a:p>
          <a:p xmlns:a="http://schemas.openxmlformats.org/drawingml/2006/main">
            <a:r>
              <a:t>기본 모델 설정은 gpt-4.1-mini이며 exact_objects, estimated_objects, findings, score를 함께 받습니다.</a:t>
            </a:r>
          </a:p>
          <a:p xmlns:a="http://schemas.openxmlformats.org/drawingml/2006/main">
            <a:r>
              <a:t>YOLO 보조 경로는 기본적으로 yoloe-26n-seg.pt를 사용하고, 코드상 fallback 이름은 yolov8s-worldv2.pt로 설정되어 있습니다.</a:t>
            </a:r>
          </a:p>
          <a:p xmlns:a="http://schemas.openxmlformats.org/drawingml/2006/main">
            <a:r>
              <a:t>다만 Hugging Face revision hash나 YOLO checkpoint revision은 코드에 고정되어 있지 않으므로, 발표에서는 모델 ID와 weight 파일명을 기준으로 설명하는 편이 정직합니다.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person masking은 transformers 기반 Mask2Former 모델 `facebook/mask2former-swin-small-coco-instance`를 사용합니다.</a:t>
            </a:r>
          </a:p>
          <a:p xmlns:a="http://schemas.openxmlformats.org/drawingml/2006/main">
            <a:r>
              <a:t>이 결과로 person_present와 person_count를 만들고, 시간 축에서 식사 종료와 청소 후보를 추정합니다.</a:t>
            </a:r>
          </a:p>
          <a:p xmlns:a="http://schemas.openxmlformats.org/drawingml/2006/main">
            <a:r>
              <a:t>직원 체류만으로는 청소 완료를 단정하지 않고, 이후 시각 상태 개선이 함께 보여야 CLEANED_LIKELY로 가는 보수적 규칙 기반 구조입니다.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전처리 모듈은 이미지 시퀀스와 비디오를 모두 workflow frame 리스트로 바꿉니다.</a:t>
            </a:r>
          </a:p>
          <a:p xmlns:a="http://schemas.openxmlformats.org/drawingml/2006/main">
            <a:r>
              <a:t>dynamic sampling에서는 프레임 변화량과 테이블 주변 사람 관련성을 함께 보고, meal end나 cleaning candidate 같은 장면을 우선적으로 뽑습니다.</a:t>
            </a:r>
          </a:p>
          <a:p xmlns:a="http://schemas.openxmlformats.org/drawingml/2006/main">
            <a:r>
              <a:t>이 장표에서는 단순 프레임 추출이 아니라 이벤트 중심 샘플링이라는 점을 짚어주면 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실제 사용 라이브러리와 모듈 구성을 한 번에 정리하는 장표입니다.</a:t>
            </a:r>
          </a:p>
          <a:p xmlns:a="http://schemas.openxmlformats.org/drawingml/2006/main">
            <a:r>
              <a:t>Backend는 FastAPI 중심이고, 시각 처리 쪽은 OpenCV, NumPy, PyTorch, transformers, ultralytics, OpenAI SDK가 결합되어 있습니다.</a:t>
            </a:r>
          </a:p>
          <a:p xmlns:a="http://schemas.openxmlformats.org/drawingml/2006/main">
            <a:r>
              <a:t>결과 저장은 SQLite를 사용하며, 최종 판단은 visual과 action을 50 대 50으로 결합한 뒤 운영상 보수적 cap rule을 적용하는 구조라고 설명하면 좋습니다.</a:t>
            </a:r>
          </a:p>
          <a:p xmlns:a="http://schemas.openxmlformats.org/drawingml/2006/main">
            <a:r>
              <a:t>Pretrained 모델 버전 표기는 코드에 박혀 있는 모델명과 weight 파일명 기준으로 적었습니다.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라이브 데모가 짧다면 Action Workflow Demo와 Reports를 중심으로 보여주면 됩니다.</a:t>
            </a:r>
          </a:p>
          <a:p xmlns:a="http://schemas.openxmlformats.org/drawingml/2006/main">
            <a:r>
              <a:t>결과가 단순 점수 하나가 아니라 상태, reason codes, explanation까지 포함된다는 점이 해석 가능성을 높입니다.</a:t>
            </a:r>
          </a:p>
          <a:p xmlns:a="http://schemas.openxmlformats.org/drawingml/2006/main">
            <a:r>
              <a:t>현재 구현된 기능과 확장 예정 기능을 구분해서 신뢰감 있게 설명하는 것이 중요합니다.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기술 그 자체보다 운영 가치에 초점을 둡니다.</a:t>
            </a:r>
          </a:p>
          <a:p xmlns:a="http://schemas.openxmlformats.org/drawingml/2006/main">
            <a:r>
              <a:t>완전 자동 대체가 아니라 1차 자동 점검 도구라는 표현이 가장 설득력 있습니다.</a:t>
            </a:r>
          </a:p>
          <a:p xmlns:a="http://schemas.openxmlformats.org/drawingml/2006/main">
            <a:r>
              <a:t>장기적으로는 위생뿐 아니라 매장 운영 전반을 보는 감독 시스템으로 확장 가능하다고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한계점을 숨기기보다 현재 범위를 명확히 규정하는 장표입니다.</a:t>
            </a:r>
          </a:p>
          <a:p xmlns:a="http://schemas.openxmlformats.org/drawingml/2006/main">
            <a:r>
              <a:t>직접 탐지가 어려운 청결 요소를 action 기반 보조 평가로 메우고 있지만, 완전한 해결은 아니라는 점을 설명합니다.</a:t>
            </a:r>
          </a:p>
          <a:p xmlns:a="http://schemas.openxmlformats.org/drawingml/2006/main">
            <a:r>
              <a:t>결론에서는 이 프로젝트가 실전형 출발점이며 확장 여지가 크다는 메시지로 마무리합니다.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b4805b0c54c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9ed272468e4237" /><Relationship Type="http://schemas.openxmlformats.org/officeDocument/2006/relationships/slideLayout" Target="/ppt/slideLayouts/slideLayout1.xml" Id="R3590d8ee4af043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90d8ee4af043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Warm Green">
      <a:dk1>
        <a:srgbClr val="000000"/>
      </a:dk1>
      <a:lt1>
        <a:srgbClr val="FFFFFF"/>
      </a:lt1>
      <a:dk2>
        <a:srgbClr val="1E3932"/>
      </a:dk2>
      <a:lt2>
        <a:srgbClr val="EDEBE9"/>
      </a:lt2>
      <a:accent1>
        <a:srgbClr val="00754A"/>
      </a:accent1>
      <a:accent2>
        <a:srgbClr val="006241"/>
      </a:accent2>
      <a:accent3>
        <a:srgbClr val="CBA258"/>
      </a:accent3>
      <a:accent4>
        <a:srgbClr val="1E3932"/>
      </a:accent4>
      <a:accent5>
        <a:srgbClr val="D4E9E2"/>
      </a:accent5>
      <a:accent6>
        <a:srgbClr val="EDEBE9"/>
      </a:accent6>
      <a:hlink>
        <a:srgbClr val="00754A"/>
      </a:hlink>
      <a:folHlink>
        <a:srgbClr val="00624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arm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99503d36f4fa4" /><Relationship Type="http://schemas.openxmlformats.org/officeDocument/2006/relationships/notesSlide" Target="/ppt/notesSlides/notesSlide1.xml" Id="R4fc29e7cc9d242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5c6251b174802" /><Relationship Type="http://schemas.openxmlformats.org/officeDocument/2006/relationships/notesSlide" Target="/ppt/notesSlides/notesSlide2.xml" Id="R316891b744f343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2f0ae6d04443d" /><Relationship Type="http://schemas.openxmlformats.org/officeDocument/2006/relationships/notesSlide" Target="/ppt/notesSlides/notesSlide3.xml" Id="R67f7963a1a884e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4710b395a4a89" /><Relationship Type="http://schemas.openxmlformats.org/officeDocument/2006/relationships/notesSlide" Target="/ppt/notesSlides/notesSlide4.xml" Id="R703f0eece46a43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a323370764b70" /><Relationship Type="http://schemas.openxmlformats.org/officeDocument/2006/relationships/notesSlide" Target="/ppt/notesSlides/notesSlide5.xml" Id="R734976b9c67a4d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c68bc7272474a" /><Relationship Type="http://schemas.openxmlformats.org/officeDocument/2006/relationships/image" Target="/ppt/media/image.jpeg" Id="R878b7f415e624745" /><Relationship Type="http://schemas.openxmlformats.org/officeDocument/2006/relationships/image" Target="/ppt/media/image2.jpeg" Id="R5ed585e1c73c44c8" /><Relationship Type="http://schemas.openxmlformats.org/officeDocument/2006/relationships/notesSlide" Target="/ppt/notesSlides/notesSlide6.xml" Id="Rcd125a67d05548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6e55430ab4dc9" /><Relationship Type="http://schemas.openxmlformats.org/officeDocument/2006/relationships/notesSlide" Target="/ppt/notesSlides/notesSlide7.xml" Id="R011b75b282b848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eb1185c7e4e6c" /><Relationship Type="http://schemas.openxmlformats.org/officeDocument/2006/relationships/image" Target="/ppt/media/image3.jpeg" Id="R787a6b29111c418b" /><Relationship Type="http://schemas.openxmlformats.org/officeDocument/2006/relationships/image" Target="/ppt/media/image4.jpeg" Id="Rc331a3d918c04bfe" /><Relationship Type="http://schemas.openxmlformats.org/officeDocument/2006/relationships/image" Target="/ppt/media/image5.jpeg" Id="Rff3f82aff28a4c91" /><Relationship Type="http://schemas.openxmlformats.org/officeDocument/2006/relationships/notesSlide" Target="/ppt/notesSlides/notesSlide8.xml" Id="R686cc292d82c4d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292ab2bf6475f" /><Relationship Type="http://schemas.openxmlformats.org/officeDocument/2006/relationships/notesSlide" Target="/ppt/notesSlides/notesSlide9.xml" Id="R4a83cc0042e94d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b2bad667d40fb" /><Relationship Type="http://schemas.openxmlformats.org/officeDocument/2006/relationships/notesSlide" Target="/ppt/notesSlides/notesSlide10.xml" Id="Rfe11db204b1744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e193a5f6c4c64" /><Relationship Type="http://schemas.openxmlformats.org/officeDocument/2006/relationships/notesSlide" Target="/ppt/notesSlides/notesSlide11.xml" Id="Rb15dc456d44542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9ddf49f334a44" /><Relationship Type="http://schemas.openxmlformats.org/officeDocument/2006/relationships/notesSlide" Target="/ppt/notesSlides/notesSlide12.xml" Id="R9698aaacefbc4e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9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213E71-2376-4991-9DC3-E3F97C4E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E3932"/>
              </a:gs>
              <a:gs pos="100000">
                <a:srgbClr val="25483F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9525E-1731-4D9E-A788-3E1541FA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4762500" cy="52006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10C9C-E573-46DF-AAAD-0E53D05B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4775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BB1F7-2772-4A95-A421-0061AE31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프랜차이즈 매장 테이블 청결도 자동 평가 프레임워크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F11D2-DEDB-46A4-BC87-1EBBA294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425">
                <a:solidFill>
                  <a:srgbClr val="FFFFFF">
                    <a:alpha val="82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425">
                <a:solidFill>
                  <a:srgbClr val="FFFFFF">
                    <a:alpha val="82000"/>
                  </a:srgbClr>
                </a:solidFill>
                <a:latin typeface="Pretendard"/>
                <a:ea typeface="Pretendard"/>
                <a:cs typeface="Pretendard"/>
              </a:rPr>
              <a:t>CCTV와 메타데이터를 활용한 실전형 매장 수퍼바이징 접근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086B0-E78B-4923-A4E0-FB57308E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286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테이블 단위 청결도 1차 자동 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4189C-D9C0-4A07-8991-5FD1D5DD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4286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비전 평가와 행동 평가를 결합한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57721-919B-42C7-B322-86E29031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4286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발표용 통합 데모 시스템 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FC163-5B26-49E2-A67F-B8243342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71550"/>
            <a:ext cx="3810000" cy="47053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0EB"/>
          </a:solidFill>
          <a:ln xmlns:a="http://schemas.openxmlformats.org/drawingml/2006/main" w="9525">
            <a:solidFill>
              <a:srgbClr val="000000">
                <a:alpha val="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7B1A1-44B1-4A3C-8126-D31C4683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71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평가 파이프라인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2B97F-D86A-47C9-8A6D-D1F20BD6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43100"/>
            <a:ext cx="2895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CCTV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32D1A-5939-41F6-B23C-422BAC29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71725"/>
            <a:ext cx="3429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A23D2-1D4A-4787-8C7F-6EF849F4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52700"/>
            <a:ext cx="2895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BE9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테이블 ROI 추출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C7557-AFD5-4DE3-9FC2-CF4636FB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81325"/>
            <a:ext cx="3429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9273E-5E58-4447-9714-0C372425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62300"/>
            <a:ext cx="2895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visual / action 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E6740-3D92-42FD-BA69-D09FDCE5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90925"/>
            <a:ext cx="3429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1BDBD-8093-4AD1-B144-39FB2C2C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2895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BE9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최종 점수 산출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8AD5B-5DCF-4F11-A862-4969E605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00525"/>
            <a:ext cx="3429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FE101-6E3A-4338-9574-C86ED84D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81500"/>
            <a:ext cx="2895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리포트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BF4BB-52F3-4DDC-AB98-0C747567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20E9C-DBE8-41F0-9079-6A07F8C6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4999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9EEE4F-4F2D-465D-8A58-839031EA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721EB-452A-442B-A0C5-427AE708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프로젝트 배경 및 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099AB-0E7C-4C2A-A78A-D6FCD4FB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560FF-CEF6-48CA-92ED-93A2580F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위생 일관성은 브랜드 신뢰도와 고객 경험에 직접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73D54-08B1-4857-93DB-550C0CF0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98A37-79D7-4BD9-951F-0D580AEC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가맹점 수가 늘수록 지점별 관리 편차 확대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177F6-69C0-46ED-906C-CCC32C7B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A8E84-AD81-423E-B0A3-24B0D9F1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본사는 운영 전반을 자주 직접 확인하기 어려움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4237F-001A-46DF-83E5-07E3E9D3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F822B-D8C1-44BD-A5AE-6F47F806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결과적으로 점검 공백 시간이 누적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C301C-7FE7-497E-BC66-B651CAAC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47800"/>
            <a:ext cx="37147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48CF2-F330-42D9-B6F4-0616BF6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90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운영 현장에서의 문제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7FBC8-C62E-48C1-B45B-9743572F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742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본사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A46A7-2A8B-40F1-8441-F1950531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모든 매장을 항상 직접 보기 어려움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0284C-7896-474B-921F-E0676C3E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00400"/>
            <a:ext cx="742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가맹점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6F94C-5E99-496D-8D42-6FAD7B09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004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정리 편차가 누적될 수 있음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CCBE2-F56B-4AF9-9E13-27B83E02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742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고객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82C7D-2C35-48D9-AF79-963B9341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196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지점마다 위생 경험이 달라질 수 있음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43B39-DE3B-4D6C-95C1-47DB1759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8DDD4-9430-43AA-9111-CA725ECB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5276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E16EA2-F243-4651-B5FA-BE349A07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9AA77-E343-4D3E-94E2-644072C4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기존 방문 점검 방식의 한계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F6718-425F-485C-B9D8-AB393F22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C85FF-BF51-40F4-A734-BCB60616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슈퍼바이저 방문 점검은 인력·시간 비용 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42FE3-2237-426C-8E90-D7D4B6B5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19EBC-8313-48CB-BE73-2C8C4ACB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방문 시점만 확인 가능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F80A2-FD3B-4373-A24A-178ED255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058BE-A1AC-4312-A544-924CE606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비방문 시간대의 위생 상태 파악 어려움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A208E-2A18-4154-8440-5F3052A9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308FC-1C83-4F7D-864D-7CE8900E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지속 모니터링 관점에서는 확장성 부족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DFDBE-C55E-4554-9BA4-88BEBD92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390650"/>
            <a:ext cx="379095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489C1-F561-455B-B4DB-96167B3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방문 점검 타임라인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18610-80DA-4697-A6DC-6FB02F19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766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2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F8E09-5261-4245-AEF8-FD892937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72729-A2F8-486B-BC05-40E34558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861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방문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E8DC9-2DC2-424F-962A-789B8FBE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7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A258"/>
          </a:solidFill>
          <a:ln xmlns:a="http://schemas.openxmlformats.org/drawingml/2006/main" w="0">
            <a:solidFill>
              <a:srgbClr val="CBA2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5A89E-C825-49C6-A0AD-F0C412A2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공백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70D11-98FB-405F-9A45-DCC7332C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7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88143-8C57-4CC1-A8F3-04FA76F3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861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방문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5614D-1525-4B3D-8C6F-8D851D8B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E3932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E3932"/>
                </a:solidFill>
                <a:latin typeface="Pretendard"/>
                <a:ea typeface="Pretendard"/>
                <a:cs typeface="Pretendard"/>
              </a:rPr>
              <a:t>방문 사이 시간대는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E3932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E3932"/>
                </a:solidFill>
                <a:latin typeface="Pretendard"/>
                <a:ea typeface="Pretendard"/>
                <a:cs typeface="Pretendard"/>
              </a:rPr>
              <a:t>상태 추적이 어려움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B4E50-7C66-4764-9B41-4440CBD0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6ED42-977D-4CA7-80B3-B2761421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5959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9CC01-556F-4E23-AA91-A6330413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DCE58-AAEB-44FA-A303-76DD59AD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핵심 아이디어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3E292-0FFF-4106-B2F6-800847EF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BBC6F-852E-4AD1-9700-C7F76F19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기존 CCTV와 테이블 위치 정보를 활용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3209A-8C37-4500-A26B-4F7DF77D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0A1A1-B712-4370-B333-0D804DF9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매장 전체가 아니라 테이블 단위로 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B7E5A-7C92-4D54-BFD4-5FA65032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B404C-A7C3-4CE5-9DA7-A434185A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보이는 흔적은 visual score로 반영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51567-50F3-4755-A594-A83F14F1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09D65-D15E-40B7-9733-6A30714E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청소 행위 정황은 action score로 보완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F1238-7E9A-49CD-BAD1-1CF79A89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1A16A-E4ED-48B8-8621-48635CCD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최종적으로 운영 친화적인 청결 점수 산출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1BE48-96C5-41E9-B860-1DFE596C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09850"/>
            <a:ext cx="2286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테이블 단위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청결도 평가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794CF-FEA6-45DB-A9B5-AA0C8DC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90650"/>
            <a:ext cx="1676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CCTV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영상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C5740-2401-43D0-8D4C-9B1607FA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90650"/>
            <a:ext cx="1676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테이블 위치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메타데이터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97004-3B6E-4895-9570-10E89745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48100"/>
            <a:ext cx="1676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visual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평가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C0568-4712-4889-A02C-103A21DF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48100"/>
            <a:ext cx="1676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action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평가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CADCE-C164-418E-94B5-DCB606B3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0C5E9-F477-4625-B3F5-7FCF02A9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1255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8E2E8C-586F-4B03-9D7C-55056D97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8A079-FF6F-4506-AD20-3DD57C87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전체 시스템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7E7A3-D8DE-4817-B635-616EB65C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430AC-ACDB-4D5A-B25D-C01398A3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CCTV 입력을 테이블 ROI 중심으로 해석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347F3-400C-4D3F-AB5D-DA327F83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ED05F-94B9-4BCD-9722-61970A5A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객체·상태 분석 결과를 visual score로 변환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D6EFB-417A-4CC4-AC7F-08D1BDA9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D43BE-5740-432C-830B-ED09E4C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식사 종료 이후 행동 정황을 action score로 변환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059CD-8763-4806-8091-61A75604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DC0CF-55D3-404E-8972-AC28D7D7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두 근거를 결합해 final cleanliness score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C17AE-A8F7-487C-ACF6-3F1F9DE2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568D9-B010-4106-BA34-02959290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결과는 리포트 형태로 저장·조회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C7EFB-E960-401D-BCAC-19406D48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8382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CCTV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C2450-8845-4405-9D3E-E0167296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194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D264D-EA5F-4D44-8BBA-2BC587C5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8382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테이블 ROI 추출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99B88-917D-4500-8DA6-E7471300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83D9C-B6E1-48EF-900D-699DC4A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8382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객체 / 상태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6F2EF-FA57-45B2-A44D-093A6B24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194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3023C-2DAB-4537-8980-C7F1D645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8382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visual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E3D11-0C9A-4F84-B448-0DF44590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194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BD71F-B88F-4EB7-92EB-0C762D59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8382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action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61E44-9729-4E0C-B448-8AE6FBCE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B8F8B-5DE9-446B-8203-3F0D887F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8382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final 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ED078-984C-4E46-85A1-48CFC45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194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1C95F-82D4-4293-BC61-6AE7DCD8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52700"/>
            <a:ext cx="8382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DB4AD3-8A7C-4A95-BED7-8CC61001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E29FB7-DBA3-4D7C-8DF5-F2A6EBEE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7437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3F8A38-C6AA-4607-A0C7-A50D558F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E0F8A-6BD1-41A3-A52B-7CAAECD4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테이블 단위 비전 청결도 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96E2A-8378-4AD3-A9DB-CD99D39C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06642-F03C-4F42-AB7F-1FB2367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573E4-08A1-4AAE-AF17-AB6683DF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C6AAA-AB68-40D4-9492-0493C6F2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OpenCV 기반 ROI crop 후 테이블 영역만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1C018-84CA-4A22-A79F-EC3086DF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29835-808C-4C22-B140-0C1EF1AA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OpenAI gpt-4.1-mini로 청결도 JSON 구조화 출력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7D6B4-E3D2-4FD6-BE63-36792316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F9D21-FF1F-4152-B317-BE27E3D5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정확히 보이는 객체와 추정 객체를 분리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8ACFC-EDE8-4ACF-9F77-AB234F13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16101-F609-4F27-B4BA-6E34C535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YOLOE (yoloe-26n-seg.pt) 결과는 보조 증거로 활용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F971D-3A31-425C-84B0-83048E00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9700"/>
            <a:ext cx="47625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b7f415e624745"/>
          <a:srcRect xmlns:a="http://schemas.openxmlformats.org/drawingml/2006/main" l="27619" t="0" r="276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1885950"/>
            <a:ext cx="2152650" cy="2705100"/>
          </a:xfrm>
          <a:prstGeom xmlns:a="http://schemas.openxmlformats.org/drawingml/2006/main" prst="roundRect">
            <a:avLst>
              <a:gd name="adj" fmla="val 7080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585e1c73c44c8"/>
          <a:srcRect xmlns:a="http://schemas.openxmlformats.org/drawingml/2006/main" l="19353" t="0" r="193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34450" y="1885950"/>
            <a:ext cx="1790700" cy="2705100"/>
          </a:xfrm>
          <a:prstGeom xmlns:a="http://schemas.openxmlformats.org/drawingml/2006/main" prst="roundRect">
            <a:avLst>
              <a:gd name="adj" fmla="val 8511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FC42D-F07A-4EEE-AF6A-3E460BAE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원본 CCTV 프레임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2FB75-01E3-459B-9B74-576D0D43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2440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테이블 crop 예시</a:t>
            </a:r>
          </a:p>
        </p:txBody>
      </p:sp>
    </p:spTree>
    <p:extLst>
      <p:ext uri="{BB962C8B-B14F-4D97-AF65-F5344CB8AC3E}">
        <p14:creationId xmlns:p14="http://schemas.microsoft.com/office/powerpoint/2010/main" val="9850559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407608-0746-4B41-8282-6B8FB7A5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C1985-E4B0-4323-B2EA-D77D79A8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Action 기반 청결도 보조 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B61DB-83F5-4FC7-BE15-DD6CEBDB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AC70C-5854-4607-B54E-82AECCCC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Mask2Former (facebook/mask2former-swin-small-coco-instance)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B3C0C-25D5-4786-A197-D24C40F0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9702A-582A-4313-AA58-FA30DBD8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점유 흐름으로 `CUSTOMER_IN_USE` → `MEAL_ENDED`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99727-C37C-4A4B-AB0D-664D7A4F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6D478-07C9-4384-B57F-022E33B4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구역 체류 시간으로 `CLEANING_CANDIDATE` 판단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339A5-A917-4A3E-A9EC-1D057287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6EB9D-E123-413A-BEF0-8CD27012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전후 상태 변화가 보이면 `CLEANED_LIKELY`로 강화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730BE-7B1A-439C-9481-ACD82F73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12001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CUSTOMER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IN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53A83-C3F2-432A-9979-9AC94187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4800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E3790-B3EC-4F76-BFD0-CD670F2C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12001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MEAL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ENDED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59615-47E6-4A81-9439-1C2CBAFB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4800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6C114-D526-4693-AB87-6EE267F5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12001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CLEANING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8E4B2-B873-4894-9354-6D1C4BDE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4800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FBC04-8694-43B7-AF0C-CE5368C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62250"/>
            <a:ext cx="12001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CLEANED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LIKELY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7DBDE-CD50-4CDB-BE2B-613144FC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3676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11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person_present / person_count / zone dwell / before-after state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F2936-E017-497C-A9A4-05D80450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D75ED-5067-4EB3-B965-FDB08D19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66294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AC8684-AA24-4D85-B8D4-D745C822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62AE6-31B6-4141-B6F1-F586AC97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비디오 타이밍 추출 및 효율화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420EE-B8F3-4AF5-A01F-9400547A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CF027-740E-4FE7-91DB-342A57A9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845DD-708A-4C07-8373-45D3F249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F943A-5E75-4A87-A86E-0C79A3B7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OpenCV로 비디오 프레임 샘플링 및 timestamp 부여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8A3BE-1B6F-48FB-801D-6B5CDBA4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F99C1-9171-4210-9633-C5DCFF56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이미지 시퀀스와 short video를 같은 workflow 입력으로 변환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C7AFE-0EEB-457B-923B-735D559F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10BDC-75C2-4278-A7EA-DC5FCBA1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change score + person relevance로 의미 있는 시점 우선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9E4B5-602F-4919-8860-1B1D8CF2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5B7E8-1ECD-4721-8DD9-E0B604FF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결과적으로 workflow-from-images / workflow-from-video 모두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83BD2-52C8-4E3F-8CA2-0C0899F9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241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a6b29111c418b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25908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9A2D1-C752-40B5-83A6-AE1953F2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95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D5DDB-2462-4E96-99D7-D205D9EC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481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초기 상태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1a3d918c04bfe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0100" y="200025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2B89E-E9B5-485D-B462-434D4EE3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95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F4A77-34E6-4DD2-9BDC-91F7C95E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481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후보 시점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f82aff28a4c91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48850" y="2590800"/>
            <a:ext cx="1028700" cy="10287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47B34-BC5C-4201-9768-AEA77334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95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C1DD6-1766-4D6F-9A8D-A3CADAA8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481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청소 후 확인</a:t>
            </a:r>
          </a:p>
        </p:txBody>
      </p:sp>
    </p:spTree>
    <p:extLst>
      <p:ext uri="{BB962C8B-B14F-4D97-AF65-F5344CB8AC3E}">
        <p14:creationId xmlns:p14="http://schemas.microsoft.com/office/powerpoint/2010/main" val="18191156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AE942-3A3C-48A8-AA68-D18E2585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3C652-8B43-4170-AE00-69ED3071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구현 구조 및 기술 스택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51910-D8B8-4F30-8C0B-D762C175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2FD49-AC1D-41D7-999E-494C872A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Backend: FastAPI + Uvicorn + python-multipart + Jinja2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0D986-4F40-4C27-A55C-506DEFDB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39620-6A66-4EAC-8DA1-828325E0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CV/ML: OpenCV, NumPy, Pillow, PyTorch, transformers, ultralytics, OpenAI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4199A-C43D-4E9A-8157-0788EDE1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B487A-5402-4B9E-A818-13CFD717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Storage/UI: SQLite 기반 결과 저장, HTML/CSS/JS 리포트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68AA7-A16F-447A-A95A-66DC57BD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35F1C-5C64-431E-B3F2-4038F01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Mobile wrapper: Capacitor Android 연동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C78F5-C71F-4F26-AF8B-484399EC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C1528-0B57-4E44-AB38-53E2917B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Pretrained model: gpt-4.1-mini, mask2former-swin-small-coco-instance, yoloe-26n-seg.pt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5DB00-1F56-4667-B695-E05A5FE8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1447800" cy="2952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12B58-716B-4550-9A1E-9631C894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3835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Backend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DC05F-DCF2-463E-B9AA-F4913B85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05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E0221-AEDE-4E38-80D0-B307107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Uvicorn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A9AA4-652C-4B22-81F5-37C0DAED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python-multipart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C5506-116F-42AA-ADF9-444F84E6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9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Jinja2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B8C9F-E685-4DEF-952A-9A053809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1447800" cy="2952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79F65-1E06-48DD-9ECE-2FA91549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CV / 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BE5C5-E56F-42BE-90EC-2000F851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gpt-4.1-mini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345AA-1BDC-4B81-AD68-BFD59EE1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mask2former-swin-small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D5B02-3F39-4833-AE48-ABA24837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814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yoloe-26n-seg.pt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39422E-8FA5-4F83-B43C-3AA64C79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OpenCV · PyTorch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DB26F-4DFF-405F-85F8-155DAE31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90700"/>
            <a:ext cx="1447800" cy="2952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71533B-D489-4595-B235-12845F07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3835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Storage / UI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2D948-688D-47D1-936D-642A35BD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05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SQLite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AECFF-7EB3-4937-AEE6-25797197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43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HTML / CSS / JS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A51EFB-FD0D-48DB-BB87-EC1F2023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814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Reports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37AF84-C45B-464C-9188-7DC33084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19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Capacitor Android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8E9B80-0DC5-4499-93F8-EAB8F4F0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47AB64-92E2-4A69-8F40-8546208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44816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C88D5B-96CD-4ACC-9351-FA45FF51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29AC4-D0AC-425B-96CC-3CE4434A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구현 결과 및 시연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29024-803C-4F1C-9A3F-8D8B317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43414-131F-4B1A-9C43-C51CF86B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ROI 설정 후 이미지·비디오 기반 workflow 실행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E2E8E-07B2-49C4-85EF-BA98B69B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130A8-A1A3-4135-9165-A3BD898B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테이블별 visual score / action score / final score 산출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9C1D3-D393-40A5-A0C8-B0300EDF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DD825-574D-4789-BBE0-2E8E5506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이유 코드와 설명 문장까지 함께 확인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6C47F-51A6-4A3A-895D-AED0395C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6A383-0A34-4859-87FA-13482EB8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결과는 reports 화면에서 다시 조회 가능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AE380-58F8-4A4A-9AF5-835379EF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12001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ROI 설정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03DC3-9754-424F-B567-5CB008B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CDBBE-849F-4CDD-927E-7C8EFAD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12001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workflow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1B4E5-F8C9-4BD6-B88B-C3F3CBEE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8921B-1852-4072-9600-6E7F7562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86000"/>
            <a:ext cx="12001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점수·상태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82577-9CE1-4966-95C6-04956891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34980-BB5A-4251-9645-297B6958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0"/>
            <a:ext cx="12001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reports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0D6E1-948F-4B6E-8DC2-B6DC1020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14750"/>
            <a:ext cx="331470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18998-6503-47C6-9596-776484E6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814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1E3932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E3932"/>
                </a:solidFill>
                <a:latin typeface="Pretendard"/>
                <a:ea typeface="Pretendard"/>
                <a:cs typeface="Pretendard"/>
              </a:rPr>
              <a:t>출력 예시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1E3932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E3932"/>
                </a:solidFill>
                <a:latin typeface="Pretendard"/>
                <a:ea typeface="Pretendard"/>
                <a:cs typeface="Pretendard"/>
              </a:rPr>
              <a:t>meal status / cleaning status / reason codes /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399E1-0466-47CC-8B3A-E40AEAA5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6086E-57E0-4AB8-9735-B10237E9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95682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C0BEBE-CEB5-4053-B64F-16CE1881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0CA36-8C67-4A8E-9E8B-D677DFFD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기대 효과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D10EB-B445-4FE5-BF1F-00B10E86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18972-CBDA-494B-963E-A80EC479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본사 입장: 점검 부담 완화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B2E8D-719A-46D6-8560-D6AD58DF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DD704-7FE6-4757-A19F-C6F8102E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운영 입장: 비방문 시간대 모니터링 보완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68429-7C6D-4594-B646-AD5ADE29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D3938-4E82-49CF-8C04-8BC2CF56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매장 입장: 테이블 단위 관리 기준 정착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3185C-2017-4FF2-A456-C9C61263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78B6B-19E8-403F-AFE5-80882B5A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고객 입장: 더 일관된 식사 환경 기대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580EA-7EE9-4763-8121-EA62753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1352550" cy="2114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본사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4000"/>
              </a:lnSpc>
              <a:buNone/>
              <a:def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점검 부담 완화</a:t>
            </a:r>
          </a:p>
          <a:p xmlns:a="http://schemas.openxmlformats.org/drawingml/2006/main">
            <a:pPr algn="ctr">
              <a:lnSpc>
                <a:spcPct val="124000"/>
              </a:lnSpc>
              <a:buNone/>
              <a:def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관리 공백 보완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C349F-A90F-4AF7-92EA-C862C31B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1352550" cy="2114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275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매장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4000"/>
              </a:lnSpc>
              <a:buNone/>
              <a:defRPr sz="1275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테이블 단위 관리 기준</a:t>
            </a:r>
          </a:p>
          <a:p xmlns:a="http://schemas.openxmlformats.org/drawingml/2006/main">
            <a:pPr algn="ctr">
              <a:lnSpc>
                <a:spcPct val="124000"/>
              </a:lnSpc>
              <a:buNone/>
              <a:defRPr sz="1275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반복 점검 가능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D85DE-06C0-40B3-A6F0-263731B3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33600"/>
            <a:ext cx="1352550" cy="2114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4000"/>
              </a:lnSpc>
              <a:buNone/>
              <a:def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고객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4000"/>
              </a:lnSpc>
              <a:buNone/>
              <a:def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더 일관된</a:t>
            </a:r>
          </a:p>
          <a:p xmlns:a="http://schemas.openxmlformats.org/drawingml/2006/main">
            <a:pPr algn="ctr">
              <a:lnSpc>
                <a:spcPct val="124000"/>
              </a:lnSpc>
              <a:buNone/>
              <a:def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식사 환경 기대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1C1C5-E83B-4799-AD4F-811E987F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925DF-1878-4C16-8D6C-B9377282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80558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CBE970-B90C-4150-B8F8-408D1937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38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E9E2"/>
          </a:solidFill>
          <a:ln xmlns:a="http://schemas.openxmlformats.org/drawingml/2006/main" w="9525">
            <a:solidFill>
              <a:srgbClr val="0075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LIMITS &amp;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941DD-BCF7-4158-9C16-D4223FF2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한계점 및 개선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07057-7D39-4ADB-9FA7-F712E37A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34F9-A1E6-41D8-BFA8-077FB01F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CCTV 각도·가림·해상도에 따라 판정 안정성 차이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3240A-55CF-4074-9561-0224CD82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51EB6-E4EB-44CE-B22F-C54FB8E6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얼룩·먼지·닦임 여부 직접 탐지는 아직 제한적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572AC-4944-496E-886D-B8BF4158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5130C-FC87-4E78-A4E8-7FE94A78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직원·고객 구분과 이벤트 해석은 더 고도화 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8AA0E-00F1-4AD0-B45F-53CC3F8F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54A"/>
          </a:solidFill>
          <a:ln xmlns:a="http://schemas.openxmlformats.org/drawingml/2006/main" w="0">
            <a:solidFill>
              <a:srgbClr val="0075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DD054-6C1C-4E73-9B06-6D4E66A0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1F1F1F"/>
                </a:solidFill>
                <a:latin typeface="Pretendard"/>
                <a:ea typeface="Pretendard"/>
                <a:cs typeface="Pretendard"/>
              </a:defRPr>
            </a:pPr>
            <a:r>
              <a:rPr sz="1650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장기적으로 운영 데이터와 결합한 통합 수퍼바이징 확장 가능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46E6F-A7CE-422D-B4D0-AFD13E0B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57350"/>
            <a:ext cx="35623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E3932"/>
          </a:solidFill>
          <a:ln xmlns:a="http://schemas.openxmlformats.org/drawingml/2006/main" w="9525">
            <a:solidFill>
              <a:srgbClr val="1E39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7A036-F677-485B-B967-9D407E05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717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결론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354C9-733F-42F7-A688-1CFAAE7B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2609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00">
                <a:solidFill>
                  <a:srgbClr val="FFFFFF">
                    <a:alpha val="9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FFFFFF">
                    <a:alpha val="90000"/>
                  </a:srgbClr>
                </a:solidFill>
                <a:latin typeface="Pretendard"/>
                <a:ea typeface="Pretendard"/>
                <a:cs typeface="Pretendard"/>
              </a:rPr>
              <a:t>완전한 자동 판정기보다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00">
                <a:solidFill>
                  <a:srgbClr val="FFFFFF">
                    <a:alpha val="9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FFFFFF">
                    <a:alpha val="90000"/>
                  </a:srgbClr>
                </a:solidFill>
                <a:latin typeface="Pretendard"/>
                <a:ea typeface="Pretendard"/>
                <a:cs typeface="Pretendard"/>
              </a:rPr>
              <a:t>현실적인 1차 자동 점검 도구로 시작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00">
                <a:solidFill>
                  <a:srgbClr val="FFFFFF">
                    <a:alpha val="90000"/>
                  </a:srgbClr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FFFFFF">
                    <a:alpha val="90000"/>
                  </a:srgbClr>
                </a:solidFill>
                <a:latin typeface="Pretendard"/>
                <a:ea typeface="Pretendard"/>
                <a:cs typeface="Pretendard"/>
              </a:rPr>
              <a:t>추후 통합 매장 수퍼바이징으로 확장 가능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C01C7-83A4-4967-AF5B-FE1F9FC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5B57"/>
                </a:solidFill>
                <a:latin typeface="Pretendard"/>
                <a:ea typeface="Pretendard"/>
                <a:cs typeface="Pretendard"/>
              </a:defRPr>
            </a:pPr>
            <a:r>
              <a:rPr sz="825">
                <a:solidFill>
                  <a:srgbClr val="5B5B57"/>
                </a:solidFill>
                <a:latin typeface="Pretendard"/>
                <a:ea typeface="Pretendard"/>
                <a:cs typeface="Pretendard"/>
              </a:rPr>
              <a:t>Final SW Project Presentation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33878-4CC1-4D57-8069-FAFE2096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59198045"/>
      </p:ext>
    </p:extLst>
  </p:cSld>
</p:sld>
</file>

<file path=ppt/theme/theme1.xml><?xml version="1.0" encoding="utf-8"?>
<a:theme xmlns:a="http://schemas.openxmlformats.org/drawingml/2006/main" name="ChatGPT">
  <a:themeElements>
    <a:clrScheme name="Warm Green">
      <a:dk1>
        <a:srgbClr val="000000"/>
      </a:dk1>
      <a:lt1>
        <a:srgbClr val="FFFFFF"/>
      </a:lt1>
      <a:dk2>
        <a:srgbClr val="1E3932"/>
      </a:dk2>
      <a:lt2>
        <a:srgbClr val="EDEBE9"/>
      </a:lt2>
      <a:accent1>
        <a:srgbClr val="00754A"/>
      </a:accent1>
      <a:accent2>
        <a:srgbClr val="006241"/>
      </a:accent2>
      <a:accent3>
        <a:srgbClr val="CBA258"/>
      </a:accent3>
      <a:accent4>
        <a:srgbClr val="1E3932"/>
      </a:accent4>
      <a:accent5>
        <a:srgbClr val="D4E9E2"/>
      </a:accent5>
      <a:accent6>
        <a:srgbClr val="EDEBE9"/>
      </a:accent6>
      <a:hlink>
        <a:srgbClr val="00754A"/>
      </a:hlink>
      <a:folHlink>
        <a:srgbClr val="00624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arm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2026-06-18T00:17:20.8180000Z</dcterms:created>
  <dcterms:modified xsi:type="dcterms:W3CDTF">2026-06-18T00:17:20.8180000Z</dcterms:modified>
</coreProperties>
</file>